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121A29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21A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  |   25CS2103E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Detection Engine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Academic Submissions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27432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429000"/>
            <a:ext cx="6720840" cy="2331720"/>
          </a:xfrm>
          <a:prstGeom prst="rect">
            <a:avLst>
              <a:gd name="adj" fmla="val 3137"/>
            </a:avLst>
          </a:prstGeom>
          <a:solidFill>
            <a:srgbClr val="121A2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611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SECTION 11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97764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Erigela Pranay Reddy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2520080061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Palavalasa Rahul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2520090016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80960" y="3429000"/>
            <a:ext cx="3749040" cy="2331720"/>
          </a:xfrm>
          <a:prstGeom prst="rect">
            <a:avLst>
              <a:gd name="adj" fmla="val 3137"/>
            </a:avLst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09560" y="39136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Ch. Anitha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956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CS&amp;IT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9560" y="4892040"/>
            <a:ext cx="3291840" cy="0"/>
          </a:xfrm>
          <a:prstGeom prst="line">
            <a:avLst/>
          </a:prstGeom>
          <a:noFill/>
          <a:ln w="12700">
            <a:solidFill>
              <a:srgbClr val="0F2E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5010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52852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 increasingly rely on digital submission of assignments and reports, making manual plagiarism checking impractical at scale. This project presents a plagiarism detection engine that efficiently indexes student submissions and identifies both exact copies and near-duplicate passages, supporting academic integrity across large batches of coursework.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fingerprinted using Rabin–Karp rolling hashes and reduced with the Winnowing algorithm to select representative fingerprints, shortlisting candidate document pairs efficiently. A Suffix Array with an LCP (Longest Common Prefix) Array then locates maximal common substrings between candidates, from which a similarity score is computed.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passages are highlighted in a side-by-side comparison report, and results are validated through false-positive analysis to ensure the system remains reliable and interpretable for evaluators.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69480" y="1417320"/>
            <a:ext cx="4389120" cy="4480560"/>
          </a:xfrm>
          <a:prstGeom prst="rect">
            <a:avLst>
              <a:gd name="adj" fmla="val 1250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2130552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20025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 Fingerprinting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2633472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250545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Winnowing Algorithm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0" y="3136392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300837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3639312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51129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Array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89520" y="4142232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401421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89520" y="4645152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45171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Analysis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589520" y="5148072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502005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217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is the use of another's work or ideas presented as one's own, without proper attribution.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depend on originality checks to preserve academic integrity and fair evaluation.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comparing large numbers of student submissions is slow, inconsistent, and impractical at scale.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algorithmic detection system is needed to reliably flag copied and near-duplicate content.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indexes submissions and applies string-matching algorithms to identify similar passages efficiently.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78040" y="17373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B263B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73736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308592" y="2724912"/>
            <a:ext cx="219456" cy="265176"/>
          </a:xfrm>
          <a:prstGeom prst="downArrow">
            <a:avLst/>
          </a:prstGeom>
          <a:solidFill>
            <a:srgbClr val="E9C46A"/>
          </a:solidFill>
          <a:ln/>
        </p:spPr>
      </p:sp>
      <p:sp>
        <p:nvSpPr>
          <p:cNvPr id="8" name="Shape 6"/>
          <p:cNvSpPr/>
          <p:nvPr/>
        </p:nvSpPr>
        <p:spPr>
          <a:xfrm>
            <a:off x="7178040" y="301752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30175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308592" y="4005072"/>
            <a:ext cx="219456" cy="265176"/>
          </a:xfrm>
          <a:prstGeom prst="downArrow">
            <a:avLst/>
          </a:prstGeom>
          <a:solidFill>
            <a:srgbClr val="E9C46A"/>
          </a:solidFill>
          <a:ln/>
        </p:spPr>
      </p:sp>
      <p:sp>
        <p:nvSpPr>
          <p:cNvPr id="11" name="Shape 9"/>
          <p:cNvSpPr/>
          <p:nvPr/>
        </p:nvSpPr>
        <p:spPr>
          <a:xfrm>
            <a:off x="7178040" y="429768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B263B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42976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308592" y="5285232"/>
            <a:ext cx="219456" cy="265176"/>
          </a:xfrm>
          <a:prstGeom prst="downArrow">
            <a:avLst/>
          </a:prstGeom>
          <a:solidFill>
            <a:srgbClr val="E9C46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78040" y="55778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55778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/>
              <a:tblGrid>
                <a:gridCol w="2788920"/>
                <a:gridCol w="2743200"/>
                <a:gridCol w="278892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Existing Approach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Technique Used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Traditional text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comparison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Direct string / word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matching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Simple to implement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and understand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Fails on reordered or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reworded content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Hashing &amp;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fingerprinting methods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Rabin–Karp style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rolling hashes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Fast substring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matching at scale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Sensitive to hash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collisions if unfiltered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Fingerprint reduction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approaches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Winnowing over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k-gram hashes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Reduces comparison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volume significantly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May miss very short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matching segments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Advanced string-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matching structures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Suffix Array / LCP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Array construction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Locates maximal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common substrings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Higher construction</a:t>
                      </a:r>
                      <a:endParaRPr lang="en-US" sz="1250" dirty="0"/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</a:rPr>
                        <a:t>complexity than hashing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43000"/>
          </a:xfrm>
          <a:prstGeom prst="rect">
            <a:avLst>
              <a:gd name="adj" fmla="val 4800"/>
            </a:avLst>
          </a:prstGeom>
          <a:solidFill>
            <a:srgbClr val="1B26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efficient plagiarism detection engine capable of identifying copied and near-duplicate passages from a large corpus of student submissions, while reducing false positives and providing interpretable similarity reports.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13639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student submissions efficiently.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044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compact fingerprints using Rabin–Karp and Winnowing.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54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63600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potentially similar document pairs.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404104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404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38581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maximal common substrings using Suffix Array and LCP Array.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1546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313639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similarity scores.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9044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8862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matching passages.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654296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654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63600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false positives using a hand-labeled dataset.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5404104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5404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538581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understandable plagiarism report.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1B263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63040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Documents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0108" y="1979676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98548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098548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98548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50108" y="2615184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34056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1B263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73405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340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 Fingerprinting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50108" y="3250692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369564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69564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369564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Winnowing Algorithm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50108" y="3886200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05072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1B263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400507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005072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Pair Selection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50108" y="4521708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640580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640580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640580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 Construction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1463040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1B263B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1463040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1463040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Array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956548" y="1979676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2098548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2098548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2098548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Substring Detection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56548" y="2615184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734056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1B263B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2734056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27340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956548" y="3250692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5080" y="3369564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2A9D8F"/>
          </a:solidFill>
          <a:ln/>
        </p:spPr>
      </p:sp>
      <p:sp>
        <p:nvSpPr>
          <p:cNvPr id="40" name="Text 38"/>
          <p:cNvSpPr/>
          <p:nvPr/>
        </p:nvSpPr>
        <p:spPr>
          <a:xfrm>
            <a:off x="6428232" y="3369564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3369564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956548" y="3886200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5080" y="4005072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1B263B"/>
          </a:solidFill>
          <a:ln/>
        </p:spPr>
      </p:sp>
      <p:sp>
        <p:nvSpPr>
          <p:cNvPr id="44" name="Text 42"/>
          <p:cNvSpPr/>
          <p:nvPr/>
        </p:nvSpPr>
        <p:spPr>
          <a:xfrm>
            <a:off x="6428232" y="4005072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12280" y="4005072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Plagiarism Report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956548" y="4521708"/>
            <a:ext cx="146304" cy="114300"/>
          </a:xfrm>
          <a:prstGeom prst="downArrow">
            <a:avLst/>
          </a:prstGeom>
          <a:solidFill>
            <a:srgbClr val="5C6B7A"/>
          </a:solidFill>
          <a:ln/>
        </p:spPr>
      </p:sp>
      <p:sp>
        <p:nvSpPr>
          <p:cNvPr id="47" name="Shape 45"/>
          <p:cNvSpPr/>
          <p:nvPr/>
        </p:nvSpPr>
        <p:spPr>
          <a:xfrm>
            <a:off x="6355080" y="4640580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E9C46A"/>
          </a:solidFill>
          <a:ln/>
        </p:spPr>
      </p:sp>
      <p:sp>
        <p:nvSpPr>
          <p:cNvPr id="48" name="Text 46"/>
          <p:cNvSpPr/>
          <p:nvPr/>
        </p:nvSpPr>
        <p:spPr>
          <a:xfrm>
            <a:off x="6428232" y="4640580"/>
            <a:ext cx="365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4640580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1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Analysis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870448" y="4814316"/>
            <a:ext cx="457200" cy="164592"/>
          </a:xfrm>
          <a:prstGeom prst="rightArrow">
            <a:avLst/>
          </a:prstGeom>
          <a:solidFill>
            <a:srgbClr val="5C6B7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and Data Structures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39696" cy="1828800"/>
          </a:xfrm>
          <a:prstGeom prst="rect">
            <a:avLst>
              <a:gd name="adj" fmla="val 3000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344168" y="16002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/home/claude/plagiarism_ppt/icon_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842" y="17318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58775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rolling hashes / fingerprints for efficient substring comparison.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98064" y="1417320"/>
            <a:ext cx="2139696" cy="1828800"/>
          </a:xfrm>
          <a:prstGeom prst="rect">
            <a:avLst>
              <a:gd name="adj" fmla="val 3000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93592" y="16002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/home/claude/plagiarism_ppt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66" y="17318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Winnowing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35224" y="258775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representative fingerprints, reducing the data that needs comparison.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47488" y="1417320"/>
            <a:ext cx="2139696" cy="1828800"/>
          </a:xfrm>
          <a:prstGeom prst="rect">
            <a:avLst>
              <a:gd name="adj" fmla="val 3000"/>
            </a:avLst>
          </a:prstGeom>
          <a:solidFill>
            <a:srgbClr val="F5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5843016" y="16002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2" descr="/home/claude/plagiarism_ppt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690" y="17318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84648" y="258775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efficient structure for organizing suffixes of a text.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296912" y="1417320"/>
            <a:ext cx="2139696" cy="1828800"/>
          </a:xfrm>
          <a:prstGeom prst="rect">
            <a:avLst>
              <a:gd name="adj" fmla="val 3000"/>
            </a:avLst>
          </a:prstGeom>
          <a:solidFill>
            <a:srgbClr val="F5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092440" y="16002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3" descr="/home/claude/plagiarism_ppt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114" y="17318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Array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34072" y="258775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length of common prefixes between adjacent suffixes.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46336" y="1417320"/>
            <a:ext cx="2139696" cy="1828800"/>
          </a:xfrm>
          <a:prstGeom prst="rect">
            <a:avLst>
              <a:gd name="adj" fmla="val 3000"/>
            </a:avLst>
          </a:prstGeom>
          <a:solidFill>
            <a:srgbClr val="F5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41864" y="16002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6" name="Image 4" descr="/home/claude/plagiarism_ppt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3538" y="173187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37776" y="228600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/ Fingerprinting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683496" y="2587752"/>
            <a:ext cx="18653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quickly identify potentially matching regions between documents.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SUFFIXES OF "BANANA"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4572000" cy="169164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097280"/>
              </a:tblGrid>
              <a:tr h="241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Suffix Array (sorted)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Suffix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LCP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anana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banana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1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nana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1" name="Shape 23"/>
          <p:cNvSpPr/>
          <p:nvPr/>
        </p:nvSpPr>
        <p:spPr>
          <a:xfrm>
            <a:off x="5440680" y="3840480"/>
            <a:ext cx="6172200" cy="1691640"/>
          </a:xfrm>
          <a:prstGeom prst="rect">
            <a:avLst>
              <a:gd name="adj" fmla="val 3243"/>
            </a:avLst>
          </a:prstGeom>
          <a:solidFill>
            <a:srgbClr val="F5F7FA"/>
          </a:solidFill>
          <a:ln/>
        </p:spPr>
      </p:sp>
      <p:sp>
        <p:nvSpPr>
          <p:cNvPr id="32" name="Text 24"/>
          <p:cNvSpPr/>
          <p:nvPr/>
        </p:nvSpPr>
        <p:spPr>
          <a:xfrm>
            <a:off x="5669280" y="4023360"/>
            <a:ext cx="5715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Suffix Array lists all suffixes of a document's text in sorted order. The adjacent LCP (Longest Common Prefix) values reveal how much text is shared between neighboring suffixes — a high LCP indicates a long common substring, which is the core signal used to flag matching passages between two documents.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896112"/>
          </a:xfrm>
          <a:prstGeom prst="rect">
            <a:avLst>
              <a:gd name="adj" fmla="val 5102"/>
            </a:avLst>
          </a:prstGeom>
          <a:solidFill>
            <a:srgbClr val="1B26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1417320"/>
            <a:ext cx="8823960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417320"/>
            <a:ext cx="8641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/ Student Submissions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2103120" cy="896112"/>
          </a:xfrm>
          <a:prstGeom prst="rect">
            <a:avLst>
              <a:gd name="adj" fmla="val 5102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86584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2386584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2386584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6816" y="2386584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5858256" y="2386584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44712" y="2386584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836152" y="2386584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Winnowing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2103120" cy="896112"/>
          </a:xfrm>
          <a:prstGeom prst="rect">
            <a:avLst>
              <a:gd name="adj" fmla="val 5102"/>
            </a:avLst>
          </a:prstGeom>
          <a:solidFill>
            <a:srgbClr val="1B26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55848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88920" y="3355848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3355848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Pair Selection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6816" y="3355848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5858256" y="3355848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44712" y="3355848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8836152" y="3355848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25112"/>
            <a:ext cx="2103120" cy="896112"/>
          </a:xfrm>
          <a:prstGeom prst="rect">
            <a:avLst>
              <a:gd name="adj" fmla="val 5102"/>
            </a:avLst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25112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Layer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88920" y="4325112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4325112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Calculation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6816" y="4325112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5858256" y="4325112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44712" y="4325112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8836152" y="4325112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Analysis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94376"/>
            <a:ext cx="2103120" cy="896112"/>
          </a:xfrm>
          <a:prstGeom prst="rect">
            <a:avLst>
              <a:gd name="adj" fmla="val 5102"/>
            </a:avLst>
          </a:prstGeom>
          <a:solidFill>
            <a:srgbClr val="1B263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294376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88920" y="5294376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35" name="Text 33"/>
          <p:cNvSpPr/>
          <p:nvPr/>
        </p:nvSpPr>
        <p:spPr>
          <a:xfrm>
            <a:off x="2880360" y="5294376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66816" y="5294376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37" name="Text 35"/>
          <p:cNvSpPr/>
          <p:nvPr/>
        </p:nvSpPr>
        <p:spPr>
          <a:xfrm>
            <a:off x="5858256" y="5294376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Matching Passages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44712" y="5294376"/>
            <a:ext cx="2868168" cy="896112"/>
          </a:xfrm>
          <a:prstGeom prst="rect">
            <a:avLst>
              <a:gd name="adj" fmla="val 5102"/>
            </a:avLst>
          </a:prstGeom>
          <a:solidFill>
            <a:srgbClr val="F5F7FA"/>
          </a:solidFill>
          <a:ln/>
        </p:spPr>
      </p:sp>
      <p:sp>
        <p:nvSpPr>
          <p:cNvPr id="39" name="Text 37"/>
          <p:cNvSpPr/>
          <p:nvPr/>
        </p:nvSpPr>
        <p:spPr>
          <a:xfrm>
            <a:off x="8836152" y="5294376"/>
            <a:ext cx="2685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Report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scale across large volumes of academic submissions.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Software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297680"/>
          </a:xfrm>
          <a:prstGeom prst="rect">
            <a:avLst>
              <a:gd name="adj" fmla="val 1277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</p:sp>
      <p:pic>
        <p:nvPicPr>
          <p:cNvPr id="7" name="Image 0" descr="/home/claude/plagiarism_ppt/icon_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2695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488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/ Laptop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2990088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</p:sp>
      <p:pic>
        <p:nvPicPr>
          <p:cNvPr id="10" name="Image 1" descr="/home/claude/plagiarism_ppt/icon_mem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110789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990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RAM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" y="3831336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</p:sp>
      <p:pic>
        <p:nvPicPr>
          <p:cNvPr id="13" name="Image 2" descr="/home/claude/plagiarism_ppt/icon_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95203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8313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processor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22960" y="4672584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</p:sp>
      <p:pic>
        <p:nvPicPr>
          <p:cNvPr id="16" name="Image 3" descr="/home/claude/plagiarism_ppt/icon_stor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793285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6725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storage for document corpus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126480" y="1417320"/>
            <a:ext cx="5486400" cy="4297680"/>
          </a:xfrm>
          <a:prstGeom prst="rect">
            <a:avLst>
              <a:gd name="adj" fmla="val 1277"/>
            </a:avLst>
          </a:prstGeom>
          <a:solidFill>
            <a:srgbClr val="1B263B"/>
          </a:solidFill>
          <a:ln/>
        </p:spPr>
      </p:sp>
      <p:sp>
        <p:nvSpPr>
          <p:cNvPr id="19" name="Text 13"/>
          <p:cNvSpPr/>
          <p:nvPr/>
        </p:nvSpPr>
        <p:spPr>
          <a:xfrm>
            <a:off x="640080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4" descr="/home/claude/plagiarism_ppt/icon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2128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9516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suitable for DSA implementation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00800" y="281635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5" descr="/home/claude/plagiarism_ppt/icon_too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92608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95160" y="28163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 / IDE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400800" y="352958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7" name="Image 6" descr="/home/claude/plagiarism_ppt/icon_o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363931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95160" y="3529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system: Windows / Linux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400800" y="424281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0" name="Image 7" descr="/home/claude/plagiarism_ppt/icon_datas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435254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95160" y="4242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containing student submissions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6400800" y="495604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3" name="Image 8" descr="/home/claude/plagiarism_ppt/icon_clipbo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5065776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95160" y="4956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tools for text processing and visualization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/home/claude/plagiarism_pp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66" y="1533266"/>
            <a:ext cx="152156" cy="1521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35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submissions successfully indexed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1" descr="/home/claude/plagiarism_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66" y="2100194"/>
            <a:ext cx="152156" cy="1521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0025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document pairs efficiently shortlisted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596896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2" descr="/home/claude/plagiarism_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2667122"/>
            <a:ext cx="152156" cy="1521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5694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passages identified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163824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4" name="Image 3" descr="/home/claude/plagiarism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3234050"/>
            <a:ext cx="152156" cy="1521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1363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generated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3730752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4" descr="/home/claude/plagiarism_ppt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6" y="3800978"/>
            <a:ext cx="152156" cy="1521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703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content highlighted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48640" y="4297680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5" descr="/home/claude/plagiarism_ppt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6" y="4367906"/>
            <a:ext cx="152156" cy="1521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0120" y="4270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report produced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48640" y="4864608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3" name="Image 6" descr="/home/claude/plagiarism_ppt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866" y="4934834"/>
            <a:ext cx="152156" cy="1521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4837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analysis performed against a hand-labeled dataset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5623560" y="1417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COMPARISON DASHBOARD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83080"/>
          <a:ext cx="603504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00584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Document 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Document 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Similarity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Highlighted Match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Report_A.docx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Report_C.docx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A29"/>
                          </a:solidFill>
                        </a:rPr>
                        <a:t>87%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"…algorithm efficiently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indexes submissions…"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Report_B.docx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Report_D.docx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A29"/>
                          </a:solidFill>
                        </a:rPr>
                        <a:t>34%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"…related work in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the literature…"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Report_E.docx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Report_F.docx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1A29"/>
                          </a:solidFill>
                        </a:rPr>
                        <a:t>62%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"…similarity score is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computed using…"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7" name="Text 17"/>
          <p:cNvSpPr/>
          <p:nvPr/>
        </p:nvSpPr>
        <p:spPr>
          <a:xfrm>
            <a:off x="5623560" y="39319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and highlighted spans are illustrative of the report format, not measured results.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5623560" y="4572000"/>
            <a:ext cx="6035040" cy="1051560"/>
          </a:xfrm>
          <a:prstGeom prst="rect">
            <a:avLst>
              <a:gd name="adj" fmla="val 5217"/>
            </a:avLst>
          </a:prstGeom>
          <a:solidFill>
            <a:srgbClr val="F5F7FA"/>
          </a:solidFill>
          <a:ln/>
        </p:spPr>
      </p:sp>
      <p:sp>
        <p:nvSpPr>
          <p:cNvPr id="29" name="Shape 19"/>
          <p:cNvSpPr/>
          <p:nvPr/>
        </p:nvSpPr>
        <p:spPr>
          <a:xfrm>
            <a:off x="5852160" y="47548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0" name="Image 7" descr="/home/claude/plagiarism_ppt/icon_warn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486460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492240" y="47548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are reviewed against a hand-labeled dataset to keep flagged matches trustworthy for evaluators.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4114800" cy="4114800"/>
          </a:xfrm>
          <a:prstGeom prst="ellipse">
            <a:avLst/>
          </a:prstGeom>
          <a:solidFill>
            <a:srgbClr val="121A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combines efficient indexing with advanced string-matching algorithms to deliver a scalable, explainable plagiarism detection framework — suitable for colleges, universities, and online learning platforms.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49240" cy="777240"/>
          </a:xfrm>
          <a:prstGeom prst="rect">
            <a:avLst>
              <a:gd name="adj" fmla="val 7059"/>
            </a:avLst>
          </a:prstGeom>
          <a:solidFill>
            <a:srgbClr val="121A29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86664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0" descr="/home/claude/plagiarism_pp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25" y="2950037"/>
            <a:ext cx="180685" cy="1806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651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similarity detection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651760"/>
            <a:ext cx="5349240" cy="777240"/>
          </a:xfrm>
          <a:prstGeom prst="rect">
            <a:avLst>
              <a:gd name="adj" fmla="val 7059"/>
            </a:avLst>
          </a:prstGeom>
          <a:solidFill>
            <a:srgbClr val="121A29"/>
          </a:solidFill>
          <a:ln/>
        </p:spPr>
      </p:sp>
      <p:sp>
        <p:nvSpPr>
          <p:cNvPr id="11" name="Shape 8"/>
          <p:cNvSpPr/>
          <p:nvPr/>
        </p:nvSpPr>
        <p:spPr>
          <a:xfrm>
            <a:off x="6428232" y="286664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1" descr="/home/claude/plagiarism_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25" y="2950037"/>
            <a:ext cx="180685" cy="1806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2651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detection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49240" cy="777240"/>
          </a:xfrm>
          <a:prstGeom prst="rect">
            <a:avLst>
              <a:gd name="adj" fmla="val 7059"/>
            </a:avLst>
          </a:prstGeom>
          <a:solidFill>
            <a:srgbClr val="121A29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82676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2" descr="/home/claude/plagiarism_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25" y="3910157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611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unnecessary comparisons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263640" y="3611880"/>
            <a:ext cx="5349240" cy="777240"/>
          </a:xfrm>
          <a:prstGeom prst="rect">
            <a:avLst>
              <a:gd name="adj" fmla="val 7059"/>
            </a:avLst>
          </a:prstGeom>
          <a:solidFill>
            <a:srgbClr val="121A29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382676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3" descr="/home/claude/plagiarism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625" y="3910157"/>
            <a:ext cx="180685" cy="18068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611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highlighted results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48640" y="4572000"/>
            <a:ext cx="5349240" cy="777240"/>
          </a:xfrm>
          <a:prstGeom prst="rect">
            <a:avLst>
              <a:gd name="adj" fmla="val 7059"/>
            </a:avLst>
          </a:prstGeom>
          <a:solidFill>
            <a:srgbClr val="121A29"/>
          </a:solidFill>
          <a:ln/>
        </p:spPr>
      </p:sp>
      <p:sp>
        <p:nvSpPr>
          <p:cNvPr id="23" name="Shape 17"/>
          <p:cNvSpPr/>
          <p:nvPr/>
        </p:nvSpPr>
        <p:spPr>
          <a:xfrm>
            <a:off x="713232" y="478688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4" descr="/home/claude/plagiarism_ppt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25" y="4870277"/>
            <a:ext cx="180685" cy="18068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4572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scoring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263640" y="4572000"/>
            <a:ext cx="5349240" cy="777240"/>
          </a:xfrm>
          <a:prstGeom prst="rect">
            <a:avLst>
              <a:gd name="adj" fmla="val 7059"/>
            </a:avLst>
          </a:prstGeom>
          <a:solidFill>
            <a:srgbClr val="121A29"/>
          </a:solidFill>
          <a:ln/>
        </p:spPr>
      </p:sp>
      <p:sp>
        <p:nvSpPr>
          <p:cNvPr id="27" name="Shape 20"/>
          <p:cNvSpPr/>
          <p:nvPr/>
        </p:nvSpPr>
        <p:spPr>
          <a:xfrm>
            <a:off x="6428232" y="478688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8" name="Image 5" descr="/home/claude/plagiarism_ppt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625" y="4870277"/>
            <a:ext cx="180685" cy="18068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03720" y="4572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evaluation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55648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9047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multiple document formats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0248" y="141732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1755648"/>
            <a:ext cx="237744" cy="237744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49047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semantic / synonym-based detection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1856" y="141732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8156448" y="1755648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8494776" y="149047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Machine-learning-assisted classification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807208"/>
            <a:ext cx="237744" cy="237744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54203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institutional document repositories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0248" y="246888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2807208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54203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deployment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91856" y="246888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56448" y="2807208"/>
            <a:ext cx="237744" cy="237744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21" name="Text 19"/>
          <p:cNvSpPr/>
          <p:nvPr/>
        </p:nvSpPr>
        <p:spPr>
          <a:xfrm>
            <a:off x="8494776" y="254203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plagiarism checking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858768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59359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70248" y="352044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4840" y="3858768"/>
            <a:ext cx="237744" cy="237744"/>
          </a:xfrm>
          <a:prstGeom prst="ellipse">
            <a:avLst/>
          </a:prstGeom>
          <a:solidFill>
            <a:srgbClr val="1B263B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359359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plagiarism detection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91856" y="3520440"/>
            <a:ext cx="3566160" cy="914400"/>
          </a:xfrm>
          <a:prstGeom prst="rect">
            <a:avLst>
              <a:gd name="adj" fmla="val 6000"/>
            </a:avLst>
          </a:prstGeom>
          <a:solidFill>
            <a:srgbClr val="F5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8156448" y="3858768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494776" y="359359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Learning Management Systems (LMS)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1234440"/>
          </a:xfrm>
          <a:prstGeom prst="rect">
            <a:avLst>
              <a:gd name="adj" fmla="val 5185"/>
            </a:avLst>
          </a:prstGeom>
          <a:solidFill>
            <a:srgbClr val="1B263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48640" y="546811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Engine for Academic Submissions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2026-08-18T08:38:12Z</dcterms:created>
  <dcterms:modified xsi:type="dcterms:W3CDTF">2026-08-18T08:38:12Z</dcterms:modified>
</cp:coreProperties>
</file>